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1040" y="19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9/18/25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d0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d0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d0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d0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d0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d0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1E241-242E-DD0A-44F9-E3419A0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Путь развития США vs путь развития Китая: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00E710-571C-98F6-BA66-BFF02C864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543F12-E7D3-7DFF-16C2-422F9CF01F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FD3B58-6E3C-E257-9131-75703D1101C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sz="1200" dirty="0">
                <a:latin typeface="HSE Sans" panose="02000000000000000000" pitchFamily="2" charset="0"/>
              </a:rPr>
              <a:t>2026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DDD5D28-E949-BDF7-0BC3-F83B72DF0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600" dirty="0">
                <a:latin typeface="HSE Sans" panose="02000000000000000000" pitchFamily="2" charset="0"/>
              </a:rPr>
              <a:t>технологическое соперничество от фундаментальной науки до внедрения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83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0CE0C4-3D6B-E889-92C4-6CC95C3F81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Данные 2000–2023 годов, 39 стран.</a:t>
            </a:r>
            <a:endParaRPr lang="ru-RU"/>
          </a:p>
          <a:p>
            <a:r>
              <a:rPr lang="ru-RU" dirty="0"/>
              <a:t>Согласуются ли они с образом «США у фронтира, Китай — масштаб и догоняние»?</a:t>
            </a:r>
            <a:endParaRPr lang="ru-RU"/>
          </a:p>
          <a:p>
            <a:r>
              <a:rPr lang="ru-RU" dirty="0"/>
              <a:t>Звенья: наука, инновации, производство, вычисления, экономический эффект.</a:t>
            </a:r>
            <a:endParaRPr lang="ru-RU"/>
          </a:p>
          <a:p>
            <a:r>
              <a:rPr lang="ru-RU" dirty="0"/>
              <a:t>Связи условные. Причинного дизайна нет.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D18FA7-EE7D-0B9F-5577-E4815CFD18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Финансирование, коммерциализация и внедрение не измерены.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0CC6F3-3DB2-76D5-C150-2A1B05E1AA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HSE Sans" panose="02000000000000000000" pitchFamily="2" charset="0"/>
              </a:rPr>
              <a:t>Не рейтинг стран и не причинная модель.</a:t>
            </a:r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3D26EA5-A17D-0B84-655C-4D18ADA2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solidFill>
                  <a:schemeClr val="bg1"/>
                </a:solidFill>
                <a:latin typeface="HSE Sans" panose="02000000000000000000" pitchFamily="2" charset="0"/>
              </a:rPr>
              <a:t>Где пути различаются, а где нет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57C064-C075-D3CA-1FC9-CE7C03B97A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0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2750C17-EFF5-B26D-8720-74693A8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Две нормы, 2019–2023</a:t>
            </a:r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AB77EE-66AE-749D-86FE-10F7719C6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300" dirty="0">
                <a:latin typeface="HSE Sans" panose="02000000000000000000" pitchFamily="2" charset="0"/>
              </a:rPr>
              <a:t>Китай выше нормы по всем шести показателям, включая долю R&amp;D.</a:t>
            </a:r>
            <a:endParaRPr lang="ru-RU"/>
          </a:p>
          <a:p>
            <a:r>
              <a:rPr lang="ru-RU" sz="1300" dirty="0">
                <a:latin typeface="HSE Sans" panose="02000000000000000000" pitchFamily="2" charset="0"/>
              </a:rPr>
              <a:t>Доля R&amp;D: +91 % и +186 %. В уровне 2023 года у США 3,45 %, у Китая 2,58 %.</a:t>
            </a:r>
            <a:endParaRPr lang="ru-RU"/>
          </a:p>
          <a:p>
            <a:r>
              <a:rPr lang="ru-RU" sz="1300" dirty="0">
                <a:latin typeface="HSE Sans" panose="02000000000000000000" pitchFamily="2" charset="0"/>
              </a:rPr>
              <a:t>США: −6 % или +41 %. Знак зависит от населения.</a:t>
            </a:r>
            <a:endParaRPr lang="ru-RU"/>
          </a:p>
          <a:p>
            <a:r>
              <a:rPr lang="ru-RU" sz="1300" dirty="0">
                <a:latin typeface="HSE Sans" panose="02000000000000000000" pitchFamily="2" charset="0"/>
              </a:rPr>
              <a:t>Патенты, 2019–2021: Китай +812 % и +3628 %, США +13 % и +373 %.</a:t>
            </a:r>
            <a:endParaRPr lang="ru-RU"/>
          </a:p>
          <a:p>
            <a:r>
              <a:rPr lang="ru-RU" sz="1300" dirty="0">
                <a:latin typeface="HSE Sans" panose="02000000000000000000" pitchFamily="2" charset="0"/>
              </a:rPr>
              <a:t>Согласуется частично: интенсивность Китая тоже выше нормы.</a:t>
            </a:r>
            <a:endParaRPr lang="ru-RU"/>
          </a:p>
          <a:p>
            <a:r>
              <a:rPr lang="ru-RU" sz="1300" dirty="0">
                <a:latin typeface="HSE Sans" panose="02000000000000000000" pitchFamily="2" charset="0"/>
              </a:rPr>
              <a:t>WDI. Норма с населением для Китая — экстраполяция.</a:t>
            </a:r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D5CFB6A-1FDA-EE9E-879D-4BE2F656C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pic>
        <p:nvPicPr>
          <p:cNvPr id="15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53" y="1611567"/>
            <a:ext cx="4325167" cy="399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5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FC2385FF-000F-9925-8769-C5E1C58903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734 наблюдения, 39 стран. WDI.</a:t>
            </a:r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98FA4D28-9294-2FD4-DBE6-3707728EDF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Внутри страны патенты ближе к ВВП</a:t>
            </a:r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1D5E089-937F-5213-531F-9B55EC5579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Доля R&amp;D: 0,56, p = 0,094. Интервал включает ноль.</a:t>
            </a:r>
            <a:endParaRPr lang="ru-RU"/>
          </a:p>
          <a:p>
            <a:r>
              <a:rPr lang="ru-RU" dirty="0"/>
              <a:t>ВВП: 1,75, p = 0,002. Без Китая: 1,11, p = 0,11.</a:t>
            </a:r>
            <a:endParaRPr lang="ru-RU"/>
          </a:p>
          <a:p>
            <a:r>
              <a:rPr lang="ru-RU" dirty="0"/>
              <a:t>Статьи: 0,08, p = 0,67.</a:t>
            </a:r>
            <a:endParaRPr lang="ru-RU"/>
          </a:p>
          <a:p>
            <a:r>
              <a:rPr lang="ru-RU" dirty="0"/>
              <a:t>Вердикт: неопределённо. Постоянный размер страны уже вычтен.</a:t>
            </a:r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1370887-087C-FDE6-21F5-A891BAA499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pic>
        <p:nvPicPr>
          <p:cNvPr id="14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05" y="1763042"/>
            <a:ext cx="6478438" cy="333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6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5A67DD0-6DE6-8A23-6753-5E2AE7F0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Состав роста, не технология</a:t>
            </a:r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5501952-3883-E245-AEB4-739D8B7263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R&amp;D × отставание: −0,45, p = 0,54. Минус в 6 из 6.</a:t>
            </a:r>
            <a:endParaRPr lang="ru-RU"/>
          </a:p>
          <a:p>
            <a:r>
              <a:rPr lang="ru-RU" dirty="0"/>
              <a:t>С ожиданием плюса данные не согласуются.</a:t>
            </a:r>
            <a:endParaRPr lang="ru-RU"/>
          </a:p>
          <a:p>
            <a:r>
              <a:rPr lang="ru-RU" dirty="0"/>
              <a:t>TFP Китая: 4,8 → 1,4 п. п. Ниже США только в 2020–2023. В 2013–2019 почти ничья.</a:t>
            </a:r>
            <a:endParaRPr lang="ru-RU"/>
          </a:p>
          <a:p>
            <a:r>
              <a:rPr lang="ru-RU" dirty="0"/>
              <a:t>H4: частично не согласуется.</a:t>
            </a:r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96A9788-AE93-0440-B269-496BF962AB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Тождество Солоу, PWT. Не вклад ИИ или схем.</a:t>
            </a:r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FF60534-514B-7508-8CAC-A2CED186F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pic>
        <p:nvPicPr>
          <p:cNvPr id="12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05" y="1759989"/>
            <a:ext cx="6478438" cy="420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9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4D1931F-1CE3-33B3-90FF-D55705E50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Китай — чистый импортёр схем</a:t>
            </a:r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C518967-1847-02C6-8D60-D772BDEDE4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Все 14 лет, 2010–2023.</a:t>
            </a:r>
            <a:endParaRPr lang="ru-RU"/>
          </a:p>
          <a:p>
            <a:r>
              <a:rPr lang="ru-RU" dirty="0"/>
              <a:t>2023: импорт 350 млрд долл., экспорт 136, чистый импорт 214.</a:t>
            </a:r>
            <a:endParaRPr lang="ru-RU"/>
          </a:p>
          <a:p>
            <a:r>
              <a:rPr lang="ru-RU" dirty="0"/>
              <a:t>RCA 1,85 при минусе. Это доля в экспорте, не фабрики.</a:t>
            </a:r>
            <a:endParaRPr lang="ru-RU"/>
          </a:p>
          <a:p>
            <a:r>
              <a:rPr lang="ru-RU" dirty="0"/>
              <a:t>Оборудование, в выборке отчётчиков: Япония 25,2, Нидерланды 24,1, США 20,1. Китай 4,6.</a:t>
            </a:r>
            <a:endParaRPr lang="ru-RU"/>
          </a:p>
          <a:p>
            <a:r>
              <a:rPr lang="ru-RU" dirty="0"/>
              <a:t>Вердикт: согласуется.</a:t>
            </a:r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5F1833E-CBE0-7AC9-C1BF-789089A077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Comtrade. На графике — экспорт и импорт схем, Китай.</a:t>
            </a:r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634466EC-90E8-7E61-FC96-251C0024EF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pic>
        <p:nvPicPr>
          <p:cNvPr id="14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760" y="1877402"/>
            <a:ext cx="6476207" cy="387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8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7E06D55-94BD-60D6-6E26-C507C012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Системы и мощность расходятся</a:t>
            </a:r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8DA25BB-EF3C-360C-1944-87974FC775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Китай, системы: 8 % → 46 % в 2019 → 8 % в 2025.</a:t>
            </a:r>
            <a:endParaRPr lang="ru-RU"/>
          </a:p>
          <a:p>
            <a:r>
              <a:rPr lang="ru-RU" dirty="0"/>
              <a:t>Мощность: 32 % в 2019 и 1,4 % в 2025.</a:t>
            </a:r>
            <a:endParaRPr lang="ru-RU"/>
          </a:p>
          <a:p>
            <a:r>
              <a:rPr lang="ru-RU" dirty="0"/>
              <a:t>В 2010, 2013 и 2014 мощность была не ниже числа систем.</a:t>
            </a:r>
            <a:endParaRPr lang="ru-RU"/>
          </a:p>
          <a:p>
            <a:r>
              <a:rPr lang="ru-RU" dirty="0"/>
              <a:t>США, 2025: 34 % систем и 46 % мощности.</a:t>
            </a:r>
            <a:endParaRPr lang="ru-RU"/>
          </a:p>
          <a:p>
            <a:r>
              <a:rPr lang="ru-RU" dirty="0"/>
              <a:t>Согласуется частично. Топ-50: в 2024 две китайские системы, в 2025 одна.</a:t>
            </a:r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CF24850-5AC0-337E-0DE6-0D89729913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TOP500, ноябрь. Пропуски не соединены. Подача добровольная.</a:t>
            </a:r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9CC3704-3C99-DBC6-8806-F226A9AD18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pic>
        <p:nvPicPr>
          <p:cNvPr id="14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507" y="1938331"/>
            <a:ext cx="6392631" cy="382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22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FC2385FF-000F-9925-8769-C5E1C58903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Epoch. Снимок, не коэффициент.</a:t>
            </a:r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98FA4D28-9294-2FD4-DBE6-3707728EDF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В 2025 году знак зависит от показателя</a:t>
            </a:r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1D5E089-937F-5213-531F-9B55EC5579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Группы «только США» и «только Китай»: 60 и 33.</a:t>
            </a:r>
            <a:endParaRPr lang="ru-RU"/>
          </a:p>
          <a:p>
            <a:r>
              <a:rPr lang="ru-RU" dirty="0"/>
              <a:t>Открытые веса, включая ограниченные: 12 % и 79 %.</a:t>
            </a:r>
            <a:endParaRPr lang="ru-RU"/>
          </a:p>
          <a:p>
            <a:r>
              <a:rPr lang="ru-RU" dirty="0"/>
              <a:t>Frontier: 6 и 0. Десятичный логарифм FLOP: 26,7 и 25,2, разрыв около 33 раз.</a:t>
            </a:r>
            <a:endParaRPr lang="ru-RU"/>
          </a:p>
          <a:p>
            <a:r>
              <a:rPr lang="ru-RU" dirty="0"/>
              <a:t>Регрессии нет. Это не внедрение в фирмах.</a:t>
            </a:r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1370887-087C-FDE6-21F5-A891BAA499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pic>
        <p:nvPicPr>
          <p:cNvPr id="14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05" y="1488060"/>
            <a:ext cx="6478438" cy="38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62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CDEF0C5B-D96A-397A-E414-7294C2654B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Позиции по звеньям</a:t>
            </a:r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F100FBD-DCD1-E4F6-CAF7-1FAA11ADF4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WDI, PWT, Comtrade, TOP500, Epoch. Победитель не называется.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DE0620-B0E8-002C-8D32-4F72E719F7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E3B67526-CF2E-0E4C-932D-4C45937A8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35772"/>
              </p:ext>
            </p:extLst>
          </p:nvPr>
        </p:nvGraphicFramePr>
        <p:xfrm>
          <a:off x="585787" y="2274857"/>
          <a:ext cx="11055096" cy="3400000"/>
        </p:xfrm>
        <a:graphic>
          <a:graphicData uri="http://schemas.openxmlformats.org/drawingml/2006/table">
            <a:tbl>
              <a:tblPr firstRow="0" bandRow="0"/>
              <a:tblGrid>
                <a:gridCol w="2400000"/>
                <a:gridCol w="4327548"/>
                <a:gridCol w="4327548"/>
              </a:tblGrid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102D69"/>
                          </a:solidFill>
                          <a:latin typeface="HSE Sans"/>
                        </a:rPr>
                        <a:t>Звено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102D69"/>
                          </a:solidFill>
                          <a:latin typeface="HSE Sans"/>
                        </a:rPr>
                        <a:t>США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102D69"/>
                          </a:solidFill>
                          <a:latin typeface="HSE Sans"/>
                        </a:rPr>
                        <a:t>Китай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Статьи к доходу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ниже нормы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выше нормы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Доля R&amp;D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−6 % или +41 %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+91 % или +186 %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Патенты, панель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0,56, p = 0,094. Без Китая и ВВП неясен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остаток заявок после нормы, не масштаб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Схемы, 2023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баланс около +7,5 млрд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импорт 350, экспорт 136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Оборудование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20,1 млрд, 3-е место в выборке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экспорт 4,6 млрд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TOP500, 2025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34 % систем, 46 % мощности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8 % систем, 1,4 % мощности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Открытые веса, 2025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12 %, с ограничениями; frontier: 6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79 %, frontier: 0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Вклад TFP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0,2–0,9 п. п.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с 4,8 до 1,4 п. п.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  <a:tr h="340000"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Внедрение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не измерено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  <a:tc>
                  <a:txBody>
                    <a:bodyPr wrap="square" lIns="50000" tIns="28000" rIns="50000" bIns="28000" anchor="ctr"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102D69"/>
                          </a:solidFill>
                          <a:latin typeface="HSE Sans"/>
                        </a:rPr>
                        <a:t>не измерено</a:t>
                      </a:r>
                    </a:p>
                  </a:txBody>
                  <a:tcPr>
                    <a:lnB w="6350" cap="flat" cmpd="sng">
                      <a:solidFill>
                        <a:schemeClr val="bg1">
                          <a:lumMod val="75000"/>
                        </a:schemeClr>
                      </a:solidFill>
                    </a:lnB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03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0CE0C4-3D6B-E889-92C4-6CC95C3F81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Образ двух путей согласуется только частично.</a:t>
            </a:r>
            <a:endParaRPr lang="ru-RU"/>
          </a:p>
          <a:p>
            <a:r>
              <a:rPr lang="ru-RU" dirty="0"/>
              <a:t>H1 — согласуется частично. H2 — неопределённо.</a:t>
            </a:r>
            <a:endParaRPr lang="ru-RU"/>
          </a:p>
          <a:p>
            <a:r>
              <a:rPr lang="ru-RU" dirty="0"/>
              <a:t>H3 — не согласуется. H4 — частично не согласуется.</a:t>
            </a:r>
            <a:endParaRPr lang="ru-RU"/>
          </a:p>
          <a:p>
            <a:r>
              <a:rPr lang="ru-RU" dirty="0"/>
              <a:t>H5 — согласуется. H6 — согласуется частично.</a:t>
            </a:r>
            <a:endParaRPr lang="ru-RU"/>
          </a:p>
          <a:p>
            <a:r>
              <a:rPr lang="ru-RU" dirty="0"/>
              <a:t>H7 — снимок без регрессии.</a:t>
            </a:r>
            <a:endParaRPr lang="ru-RU"/>
          </a:p>
          <a:p>
            <a:r>
              <a:rPr lang="ru-RU" dirty="0"/>
              <a:t>Квант: 3 330 и 947 международных семей. Общего лидера нет.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D18FA7-EE7D-0B9F-5577-E4815CFD18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Население Китая вне опоры нормы. +91 % — не точная оценка.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0CC6F3-3DB2-76D5-C150-2A1B05E1AA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HSE Sans" panose="02000000000000000000" pitchFamily="2" charset="0"/>
              </a:rPr>
              <a:t>Победитель не называется.</a:t>
            </a:r>
            <a:endParaRPr lang="ru-RU"/>
          </a:p>
          <a:p>
            <a:r>
              <a:rPr lang="ru-RU" sz="3200" dirty="0">
                <a:solidFill>
                  <a:schemeClr val="bg1"/>
                </a:solidFill>
                <a:latin typeface="HSE Sans" panose="02000000000000000000" pitchFamily="2" charset="0"/>
              </a:rPr>
              <a:t>Локальный знак не переносится на соседнее звено.</a:t>
            </a:r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3D26EA5-A17D-0B84-655C-4D18ADA2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solidFill>
                  <a:schemeClr val="bg1"/>
                </a:solidFill>
                <a:latin typeface="HSE Sans" panose="02000000000000000000" pitchFamily="2" charset="0"/>
              </a:rPr>
              <a:t>Цельного пути в данных нет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57C064-C075-D3CA-1FC9-CE7C03B97A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dirty="0">
                <a:latin typeface="HSE Sans" panose="02000000000000000000" pitchFamily="2" charset="0"/>
              </a:rPr>
              <a:t>Магистерский проект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08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133</Words>
  <Application>Microsoft Macintosh PowerPoint</Application>
  <PresentationFormat>Широкоэкранный</PresentationFormat>
  <Paragraphs>55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HSE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Microsoft Office User</cp:lastModifiedBy>
  <cp:revision>18</cp:revision>
  <cp:lastPrinted>2021-11-11T13:08:42Z</cp:lastPrinted>
  <dcterms:created xsi:type="dcterms:W3CDTF">2021-11-11T08:52:47Z</dcterms:created>
  <dcterms:modified xsi:type="dcterms:W3CDTF">2025-09-18T10:59:53Z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